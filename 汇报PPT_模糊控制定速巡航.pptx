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ruise_fuzz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ruise_fuzz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e5c06c644f45b7e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c0a602cd116d6e4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e2713ad15923d0a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eld-right"/>
          <p:cNvSpPr/>
          <p:nvPr/>
        </p:nvSpPr>
        <p:spPr>
          <a:xfrm>
            <a:off x="7734300" y="0"/>
            <a:ext cx="4457700" cy="6858000"/>
          </a:xfrm>
          <a:prstGeom prst="rect">
            <a:avLst/>
          </a:prstGeom>
          <a:solidFill>
            <a:srgbClr val="0B3D6B"/>
          </a:solidFill>
          <a:ln>
            <a:noFill/>
          </a:ln>
        </p:spPr>
      </p:sp>
      <p:sp>
        <p:nvSpPr>
          <p:cNvPr id="3" name="field-rule"/>
          <p:cNvSpPr/>
          <p:nvPr/>
        </p:nvSpPr>
        <p:spPr>
          <a:xfrm>
            <a:off x="7734300" y="0"/>
            <a:ext cx="5715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grpSp>
        <p:nvGrpSpPr>
          <p:cNvPr id="5" name="cover-kicker"/>
          <p:cNvGrpSpPr/>
          <p:nvPr/>
        </p:nvGrpSpPr>
        <p:grpSpPr>
          <a:xfrm>
            <a:off x="678942" y="1225550"/>
            <a:ext cx="2612155" cy="264033"/>
            <a:chOff x="678942" y="1225550"/>
            <a:chExt cx="2612155" cy="264033"/>
          </a:xfrm>
        </p:grpSpPr>
        <p:sp>
          <p:nvSpPr>
            <p:cNvPr id="4" name="TextBox 4"/>
            <p:cNvSpPr txBox="1"/>
            <p:nvPr/>
          </p:nvSpPr>
          <p:spPr>
            <a:xfrm>
              <a:off x="678942" y="1225550"/>
              <a:ext cx="26121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rgbClr val="1565C0"/>
                  </a:solidFill>
                  <a:latin typeface="+mn-lt"/>
                  <a:ea typeface="+mn-ea"/>
                  <a:cs typeface="+mn-cs"/>
                </a:rPr>
                <a:t>车辆动力学控制 · 课后作业</a:t>
              </a:r>
            </a:p>
          </p:txBody>
        </p:sp>
      </p:grpSp>
      <p:grpSp>
        <p:nvGrpSpPr>
          <p:cNvPr id="7" name="cover-title"/>
          <p:cNvGrpSpPr/>
          <p:nvPr/>
        </p:nvGrpSpPr>
        <p:grpSpPr>
          <a:xfrm>
            <a:off x="666750" y="2032000"/>
            <a:ext cx="4171950" cy="1704975"/>
            <a:chOff x="666750" y="2032000"/>
            <a:chExt cx="4171950" cy="1704975"/>
          </a:xfrm>
        </p:grpSpPr>
        <p:sp>
          <p:nvSpPr>
            <p:cNvPr id="6" name="TextBox 6"/>
            <p:cNvSpPr txBox="1"/>
            <p:nvPr/>
          </p:nvSpPr>
          <p:spPr>
            <a:xfrm>
              <a:off x="666750" y="2032000"/>
              <a:ext cx="4171950" cy="17049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300"/>
                </a:lnSpc>
              </a:pPr>
              <a:r>
                <a:rPr lang="zh-CN" sz="4650" b="1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基于模糊控制的</a:t>
              </a:r>
              <a:br>
                <a:rPr lang="zh-CN" sz="4650" b="1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4650" b="1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汽车定速巡航</a:t>
              </a:r>
            </a:p>
          </p:txBody>
        </p:sp>
      </p:grpSp>
      <p:grpSp>
        <p:nvGrpSpPr>
          <p:cNvPr id="9" name="cover-subtitle"/>
          <p:cNvGrpSpPr/>
          <p:nvPr/>
        </p:nvGrpSpPr>
        <p:grpSpPr>
          <a:xfrm>
            <a:off x="674370" y="4121150"/>
            <a:ext cx="5015020" cy="440055"/>
            <a:chOff x="674370" y="4121150"/>
            <a:chExt cx="5015020" cy="440055"/>
          </a:xfrm>
        </p:grpSpPr>
        <p:sp>
          <p:nvSpPr>
            <p:cNvPr id="8" name="TextBox 8"/>
            <p:cNvSpPr txBox="1"/>
            <p:nvPr/>
          </p:nvSpPr>
          <p:spPr>
            <a:xfrm>
              <a:off x="674370" y="4121150"/>
              <a:ext cx="5015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5B6873"/>
                  </a:solidFill>
                  <a:latin typeface="+mn-lt"/>
                  <a:ea typeface="+mn-ea"/>
                  <a:cs typeface="+mn-cs"/>
                </a:rPr>
                <a:t>整车纵向动力学建模与 Simulink 仿真</a:t>
              </a:r>
            </a:p>
          </p:txBody>
        </p:sp>
      </p:grpSp>
      <p:grpSp>
        <p:nvGrpSpPr>
          <p:cNvPr id="12" name="cover-meta"/>
          <p:cNvGrpSpPr/>
          <p:nvPr/>
        </p:nvGrpSpPr>
        <p:grpSpPr>
          <a:xfrm>
            <a:off x="678942" y="5257800"/>
            <a:ext cx="6483858" cy="714883"/>
            <a:chOff x="678942" y="5257800"/>
            <a:chExt cx="6483858" cy="714883"/>
          </a:xfrm>
        </p:grpSpPr>
        <p:sp>
          <p:nvSpPr>
            <p:cNvPr id="10" name="Line 10"/>
            <p:cNvSpPr/>
            <p:nvPr/>
          </p:nvSpPr>
          <p:spPr>
            <a:xfrm>
              <a:off x="685800" y="525780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9525">
              <a:solidFill>
                <a:srgbClr val="E4E9E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8942" y="5422900"/>
              <a:ext cx="357987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B6873"/>
                  </a:solidFill>
                  <a:latin typeface="+mn-lt"/>
                  <a:ea typeface="+mn-ea"/>
                  <a:cs typeface="+mn-cs"/>
                </a:rPr>
                <a:t>MATLAB / Simulink · 模糊控制 · 单输入单输出</a:t>
              </a:r>
              <a:br>
                <a:rPr lang="zh-CN" sz="1350" dirty="0">
                  <a:solidFill>
                    <a:srgbClr val="5B687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5B6873"/>
                  </a:solidFill>
                  <a:latin typeface="+mn-lt"/>
                  <a:ea typeface="+mn-ea"/>
                  <a:cs typeface="+mn-cs"/>
                </a:rPr>
                <a:t>模糊控制器建模与仿真 · 2 人一组</a:t>
              </a:r>
            </a:p>
          </p:txBody>
        </p:sp>
      </p:grpSp>
      <p:grpSp>
        <p:nvGrpSpPr>
          <p:cNvPr id="19" name="cover-hook"/>
          <p:cNvGrpSpPr/>
          <p:nvPr/>
        </p:nvGrpSpPr>
        <p:grpSpPr>
          <a:xfrm>
            <a:off x="8134350" y="1993900"/>
            <a:ext cx="2914650" cy="3350514"/>
            <a:chOff x="8134350" y="1993900"/>
            <a:chExt cx="2914650" cy="3350514"/>
          </a:xfrm>
        </p:grpSpPr>
        <p:sp>
          <p:nvSpPr>
            <p:cNvPr id="13" name="TextBox 13"/>
            <p:cNvSpPr txBox="1"/>
            <p:nvPr/>
          </p:nvSpPr>
          <p:spPr>
            <a:xfrm>
              <a:off x="8145780" y="1993900"/>
              <a:ext cx="1345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150" dirty="0">
                  <a:solidFill>
                    <a:srgbClr val="7FA6C9"/>
                  </a:solidFill>
                  <a:latin typeface="+mn-lt"/>
                  <a:ea typeface="+mn-ea"/>
                  <a:cs typeface="+mn-cs"/>
                </a:rPr>
                <a:t>跑上 5% 的坡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34350" y="2235200"/>
              <a:ext cx="1857287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0.9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5780" y="3365500"/>
              <a:ext cx="1913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FE3"/>
                  </a:solidFill>
                  <a:latin typeface="+mn-lt"/>
                  <a:ea typeface="+mn-ea"/>
                  <a:cs typeface="+mn-cs"/>
                </a:rPr>
                <a:t>km/h　车速最大掉幅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153400" y="39624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3E6B9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5018" y="433070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FB4D4"/>
                  </a:solidFill>
                  <a:latin typeface="+mn-lt"/>
                  <a:ea typeface="+mn-ea"/>
                  <a:cs typeface="+mn-cs"/>
                </a:rPr>
                <a:t>油门自动加大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36636" y="4699000"/>
              <a:ext cx="218812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14% → 39%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685800" y="1428750"/>
            <a:ext cx="9144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669036" y="850900"/>
            <a:ext cx="10843260" cy="645414"/>
            <a:chOff x="669036" y="850900"/>
            <a:chExt cx="10843260" cy="645414"/>
          </a:xfrm>
        </p:grpSpPr>
        <p:sp>
          <p:nvSpPr>
            <p:cNvPr id="3" name="TextBox 3"/>
            <p:cNvSpPr txBox="1"/>
            <p:nvPr/>
          </p:nvSpPr>
          <p:spPr>
            <a:xfrm>
              <a:off x="669036" y="850900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汇报提纲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22406" y="11049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96A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30" name="toc-list"/>
          <p:cNvGrpSpPr/>
          <p:nvPr/>
        </p:nvGrpSpPr>
        <p:grpSpPr>
          <a:xfrm>
            <a:off x="677418" y="2044700"/>
            <a:ext cx="10828782" cy="3883533"/>
            <a:chOff x="677418" y="2044700"/>
            <a:chExt cx="10828782" cy="3883533"/>
          </a:xfrm>
        </p:grpSpPr>
        <p:grpSp>
          <p:nvGrpSpPr>
            <p:cNvPr id="9" name="Group 9"/>
            <p:cNvGrpSpPr/>
            <p:nvPr/>
          </p:nvGrpSpPr>
          <p:grpSpPr>
            <a:xfrm>
              <a:off x="677418" y="2044700"/>
              <a:ext cx="4938141" cy="606933"/>
              <a:chOff x="677418" y="2044700"/>
              <a:chExt cx="4938141" cy="606933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677418" y="2082800"/>
                <a:ext cx="2733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565C0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18844" y="2044700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01820"/>
                    </a:solidFill>
                    <a:latin typeface="+mn-lt"/>
                    <a:ea typeface="+mn-ea"/>
                    <a:cs typeface="+mn-cs"/>
                  </a:rPr>
                  <a:t>问题与目标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421892" y="2387600"/>
                <a:ext cx="41936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B6873"/>
                    </a:solidFill>
                    <a:latin typeface="+mn-lt"/>
                    <a:ea typeface="+mn-ea"/>
                    <a:cs typeface="+mn-cs"/>
                  </a:rPr>
                  <a:t>为什么需要定速巡航：一点点坡道就能把车速拖下来</a:t>
                </a:r>
              </a:p>
            </p:txBody>
          </p:sp>
        </p:grpSp>
        <p:sp>
          <p:nvSpPr>
            <p:cNvPr id="10" name="Line 10"/>
            <p:cNvSpPr/>
            <p:nvPr/>
          </p:nvSpPr>
          <p:spPr>
            <a:xfrm>
              <a:off x="685800" y="2819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4E9EE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677418" y="2863850"/>
              <a:ext cx="4211193" cy="606933"/>
              <a:chOff x="677418" y="2863850"/>
              <a:chExt cx="4211193" cy="606933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677418" y="2901950"/>
                <a:ext cx="2733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565C0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18844" y="2863850"/>
                <a:ext cx="238239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01820"/>
                    </a:solidFill>
                    <a:latin typeface="+mn-lt"/>
                    <a:ea typeface="+mn-ea"/>
                    <a:cs typeface="+mn-cs"/>
                  </a:rPr>
                  <a:t>车辆纵向动力学模型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21892" y="3206750"/>
                <a:ext cx="34667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B6873"/>
                    </a:solidFill>
                    <a:latin typeface="+mn-lt"/>
                    <a:ea typeface="+mn-ea"/>
                    <a:cs typeface="+mn-cs"/>
                  </a:rPr>
                  <a:t>驱动力减去行驶阻力，只有一条力平衡方程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685800" y="3638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4E9EE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677418" y="3683000"/>
              <a:ext cx="4620101" cy="606933"/>
              <a:chOff x="677418" y="3683000"/>
              <a:chExt cx="4620101" cy="606933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677418" y="3721100"/>
                <a:ext cx="2733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565C0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418844" y="3683000"/>
                <a:ext cx="185737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01820"/>
                    </a:solidFill>
                    <a:latin typeface="+mn-lt"/>
                    <a:ea typeface="+mn-ea"/>
                    <a:cs typeface="+mn-cs"/>
                  </a:rPr>
                  <a:t>模糊控制器设计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421892" y="4025900"/>
                <a:ext cx="38756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B6873"/>
                    </a:solidFill>
                    <a:latin typeface="+mn-lt"/>
                    <a:ea typeface="+mn-ea"/>
                    <a:cs typeface="+mn-cs"/>
                  </a:rPr>
                  <a:t>两个输入、一个输出、5 档语言变量、25 条规则</a:t>
                </a:r>
              </a:p>
            </p:txBody>
          </p:sp>
        </p:grpSp>
        <p:sp>
          <p:nvSpPr>
            <p:cNvPr id="20" name="Line 20"/>
            <p:cNvSpPr/>
            <p:nvPr/>
          </p:nvSpPr>
          <p:spPr>
            <a:xfrm>
              <a:off x="685800" y="4457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4E9EE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77418" y="4502150"/>
              <a:ext cx="3302508" cy="606933"/>
              <a:chOff x="677418" y="4502150"/>
              <a:chExt cx="3302508" cy="606933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677418" y="4540250"/>
                <a:ext cx="2733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565C0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418844" y="4502150"/>
                <a:ext cx="222182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01820"/>
                    </a:solidFill>
                    <a:latin typeface="+mn-lt"/>
                    <a:ea typeface="+mn-ea"/>
                    <a:cs typeface="+mn-cs"/>
                  </a:rPr>
                  <a:t>Simulink 模型实现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421892" y="4845050"/>
                <a:ext cx="2558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B6873"/>
                    </a:solidFill>
                    <a:latin typeface="+mn-lt"/>
                    <a:ea typeface="+mn-ea"/>
                    <a:cs typeface="+mn-cs"/>
                  </a:rPr>
                  <a:t>模糊控制器子系统与车辆子系统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685800" y="5276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4E9EE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77418" y="5321300"/>
              <a:ext cx="4011282" cy="606933"/>
              <a:chOff x="677418" y="5321300"/>
              <a:chExt cx="4011282" cy="606933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677418" y="5359400"/>
                <a:ext cx="2733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565C0"/>
                    </a:solidFill>
                    <a:latin typeface="+mn-lt"/>
                    <a:ea typeface="+mn-ea"/>
                    <a:cs typeface="+mn-cs"/>
                  </a:rPr>
                  <a:t>05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418844" y="5321300"/>
                <a:ext cx="185737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01820"/>
                    </a:solidFill>
                    <a:latin typeface="+mn-lt"/>
                    <a:ea typeface="+mn-ea"/>
                    <a:cs typeface="+mn-cs"/>
                  </a:rPr>
                  <a:t>仿真结果与结论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421892" y="5664200"/>
                <a:ext cx="32668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B6873"/>
                    </a:solidFill>
                    <a:latin typeface="+mn-lt"/>
                    <a:ea typeface="+mn-ea"/>
                    <a:cs typeface="+mn-cs"/>
                  </a:rPr>
                  <a:t>平路与 5% 上坡各跑一次，得到两组结果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685800" y="1428750"/>
            <a:ext cx="9144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669036" y="850900"/>
            <a:ext cx="10843260" cy="645414"/>
            <a:chOff x="669036" y="850900"/>
            <a:chExt cx="10843260" cy="645414"/>
          </a:xfrm>
        </p:grpSpPr>
        <p:sp>
          <p:nvSpPr>
            <p:cNvPr id="3" name="TextBox 3"/>
            <p:cNvSpPr txBox="1"/>
            <p:nvPr/>
          </p:nvSpPr>
          <p:spPr>
            <a:xfrm>
              <a:off x="669036" y="850900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问题：一点点坡道就能把车速拖下来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22406" y="11049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96A3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0" name="problem-hero"/>
          <p:cNvGrpSpPr/>
          <p:nvPr/>
        </p:nvGrpSpPr>
        <p:grpSpPr>
          <a:xfrm>
            <a:off x="666750" y="2006600"/>
            <a:ext cx="2684191" cy="2287270"/>
            <a:chOff x="666750" y="2006600"/>
            <a:chExt cx="2684191" cy="2287270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2006600"/>
              <a:ext cx="23630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rgbClr val="5B6873"/>
                  </a:solidFill>
                  <a:latin typeface="+mn-lt"/>
                  <a:ea typeface="+mn-ea"/>
                  <a:cs typeface="+mn-cs"/>
                </a:rPr>
                <a:t>5% 坡道让所需驱动力增加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6750" y="2540000"/>
              <a:ext cx="2684191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0" b="1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170%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810000"/>
              <a:ext cx="1333500" cy="381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180" y="4000500"/>
              <a:ext cx="14447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B6873"/>
                  </a:solidFill>
                  <a:latin typeface="+mn-lt"/>
                  <a:ea typeface="+mn-ea"/>
                  <a:cs typeface="+mn-cs"/>
                </a:rPr>
                <a:t>434 N → 1169 N</a:t>
              </a:r>
            </a:p>
          </p:txBody>
        </p:sp>
      </p:grpSp>
      <p:grpSp>
        <p:nvGrpSpPr>
          <p:cNvPr id="12" name="problem-why"/>
          <p:cNvGrpSpPr/>
          <p:nvPr/>
        </p:nvGrpSpPr>
        <p:grpSpPr>
          <a:xfrm>
            <a:off x="6468618" y="2108200"/>
            <a:ext cx="3788664" cy="1294257"/>
            <a:chOff x="6468618" y="2108200"/>
            <a:chExt cx="3788664" cy="1294257"/>
          </a:xfrm>
        </p:grpSpPr>
        <p:sp>
          <p:nvSpPr>
            <p:cNvPr id="11" name="TextBox 11"/>
            <p:cNvSpPr txBox="1"/>
            <p:nvPr/>
          </p:nvSpPr>
          <p:spPr>
            <a:xfrm>
              <a:off x="6468618" y="2108200"/>
              <a:ext cx="3788664" cy="1294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80 km/h 平路巡航只需 434 N 驱动力，</a:t>
              </a:r>
              <a:br>
                <a:rPr lang="zh-CN" sz="16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5% 的坡道要多 736 N，多出 1.7 倍。</a:t>
              </a:r>
              <a:br>
                <a:rPr lang="zh-CN" sz="16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油门如果固定在平路那个位置不动，</a:t>
              </a:r>
              <a:br>
                <a:rPr lang="zh-CN" sz="16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多出来的力没人给，车速就一直往下掉。</a:t>
              </a:r>
            </a:p>
          </p:txBody>
        </p:sp>
      </p:grpSp>
      <p:grpSp>
        <p:nvGrpSpPr>
          <p:cNvPr id="16" name="problem-goal"/>
          <p:cNvGrpSpPr/>
          <p:nvPr/>
        </p:nvGrpSpPr>
        <p:grpSpPr>
          <a:xfrm>
            <a:off x="685800" y="4857750"/>
            <a:ext cx="10820400" cy="952500"/>
            <a:chOff x="685800" y="4857750"/>
            <a:chExt cx="10820400" cy="952500"/>
          </a:xfrm>
        </p:grpSpPr>
        <p:sp>
          <p:nvSpPr>
            <p:cNvPr id="13" name="Rectangle 13"/>
            <p:cNvSpPr/>
            <p:nvPr/>
          </p:nvSpPr>
          <p:spPr>
            <a:xfrm>
              <a:off x="685800" y="4857750"/>
              <a:ext cx="10820400" cy="952500"/>
            </a:xfrm>
            <a:prstGeom prst="rect">
              <a:avLst/>
            </a:prstGeom>
            <a:solidFill>
              <a:srgbClr val="F2F5F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85800" y="4857750"/>
              <a:ext cx="47625" cy="9525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18794" y="5187950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B3D6B"/>
                  </a:solidFill>
                  <a:latin typeface="+mn-lt"/>
                  <a:ea typeface="+mn-ea"/>
                  <a:cs typeface="+mn-cs"/>
                </a:rPr>
                <a:t>目标：让车速自动跟踪设定值，坡道和载荷变化都不影响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685800" y="1428750"/>
            <a:ext cx="9144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669036" y="850900"/>
            <a:ext cx="10843260" cy="645414"/>
            <a:chOff x="669036" y="850900"/>
            <a:chExt cx="10843260" cy="645414"/>
          </a:xfrm>
        </p:grpSpPr>
        <p:sp>
          <p:nvSpPr>
            <p:cNvPr id="3" name="TextBox 3"/>
            <p:cNvSpPr txBox="1"/>
            <p:nvPr/>
          </p:nvSpPr>
          <p:spPr>
            <a:xfrm>
              <a:off x="669036" y="850900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车辆纵向动力学模型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22406" y="11049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96A3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7" name="eq-label-1"/>
          <p:cNvGrpSpPr/>
          <p:nvPr/>
        </p:nvGrpSpPr>
        <p:grpSpPr>
          <a:xfrm>
            <a:off x="678942" y="1892300"/>
            <a:ext cx="1317041" cy="264033"/>
            <a:chOff x="678942" y="1892300"/>
            <a:chExt cx="1317041" cy="264033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92300"/>
              <a:ext cx="13170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rgbClr val="1565C0"/>
                  </a:solidFill>
                  <a:latin typeface="+mn-lt"/>
                  <a:ea typeface="+mn-ea"/>
                  <a:cs typeface="+mn-cs"/>
                </a:rPr>
                <a:t>01 力平衡方程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-newton"/>
              <p:cNvSpPr txBox="1">
                <a:spLocks noGrp="1"/>
              </p:cNvSpPr>
              <p:nvPr/>
            </p:nvSpPr>
            <p:spPr>
              <a:xfrm>
                <a:off x="685800" y="2171700"/>
                <a:ext cx="5334000" cy="99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zh-CN" sz="2250" dirty="0">
                          <a:solidFill>
                            <a:srgbClr val="10182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f>
                        <m:fPr>
                          <m:type m:val="bar"/>
                          <m:ctrlPr>
                            <a:rPr lang="zh-CN" sz="2250" dirty="0">
                              <a:solidFill>
                                <a:srgbClr val="10182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2250" dirty="0">
                              <a:solidFill>
                                <a:srgbClr val="10182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dv</m:t>
                          </m:r>
                        </m:num>
                        <m:den>
                          <m:r>
                            <a:rPr lang="zh-CN" sz="2250" dirty="0">
                              <a:solidFill>
                                <a:srgbClr val="10182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2250" dirty="0">
                          <a:solidFill>
                            <a:srgbClr val="10182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2250" dirty="0">
                              <a:solidFill>
                                <a:srgbClr val="10182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2250" dirty="0">
                              <a:solidFill>
                                <a:srgbClr val="10182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2250" dirty="0">
                          <a:solidFill>
                            <a:srgbClr val="10182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zh-CN" sz="2250" dirty="0">
                              <a:solidFill>
                                <a:srgbClr val="10182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2250" dirty="0">
                              <a:solidFill>
                                <a:srgbClr val="10182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10" name="eq-label-2"/>
          <p:cNvGrpSpPr/>
          <p:nvPr/>
        </p:nvGrpSpPr>
        <p:grpSpPr>
          <a:xfrm>
            <a:off x="678942" y="3378200"/>
            <a:ext cx="2326691" cy="264033"/>
            <a:chOff x="678942" y="3378200"/>
            <a:chExt cx="2326691" cy="264033"/>
          </a:xfrm>
        </p:grpSpPr>
        <p:sp>
          <p:nvSpPr>
            <p:cNvPr id="9" name="TextBox 9"/>
            <p:cNvSpPr txBox="1"/>
            <p:nvPr/>
          </p:nvSpPr>
          <p:spPr>
            <a:xfrm>
              <a:off x="678942" y="3378200"/>
              <a:ext cx="23266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rgbClr val="1565C0"/>
                  </a:solidFill>
                  <a:latin typeface="+mn-lt"/>
                  <a:ea typeface="+mn-ea"/>
                  <a:cs typeface="+mn-cs"/>
                </a:rPr>
                <a:t>02 行驶阻力由三部分组成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-resist"/>
              <p:cNvSpPr txBox="1">
                <a:spLocks noGrp="1"/>
              </p:cNvSpPr>
              <p:nvPr/>
            </p:nvSpPr>
            <p:spPr>
              <a:xfrm>
                <a:off x="685800" y="3657600"/>
                <a:ext cx="5334000" cy="11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l"/>
                <a14:m>
                  <m:oMathPara xmlns:a="http://schemas.openxmlformats.org/drawingml/2006/main"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zh-CN" sz="1950" dirty="0">
                              <a:solidFill>
                                <a:srgbClr val="10182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0182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0182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0182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mgf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0182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0182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0182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950" dirty="0">
                              <a:solidFill>
                                <a:srgbClr val="10182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950" dirty="0">
                          <a:solidFill>
                            <a:srgbClr val="10182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ρ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0182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0182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b>
                      </m:sSub>
                      <m:r>
                        <a:rPr lang="zh-CN" sz="1950" dirty="0">
                          <a:solidFill>
                            <a:srgbClr val="10182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sSup>
                        <m:e>
                          <m:r>
                            <a:rPr lang="zh-CN" sz="1950" dirty="0">
                              <a:solidFill>
                                <a:srgbClr val="10182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p>
                          <m:r>
                            <a:rPr lang="zh-CN" sz="1950" dirty="0">
                              <a:solidFill>
                                <a:srgbClr val="10182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0182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950" dirty="0">
                          <a:solidFill>
                            <a:srgbClr val="10182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mg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0182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sin</m:t>
                          </m:r>
                        </m:fName>
                        <m:e>
                          <m:r>
                            <a:rPr lang="zh-CN" sz="1950" dirty="0">
                              <a:solidFill>
                                <a:srgbClr val="10182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15" name="model-legend"/>
          <p:cNvGrpSpPr/>
          <p:nvPr/>
        </p:nvGrpSpPr>
        <p:grpSpPr>
          <a:xfrm>
            <a:off x="678942" y="5226050"/>
            <a:ext cx="3186146" cy="949833"/>
            <a:chOff x="678942" y="5226050"/>
            <a:chExt cx="3186146" cy="949833"/>
          </a:xfrm>
        </p:grpSpPr>
        <p:sp>
          <p:nvSpPr>
            <p:cNvPr id="12" name="TextBox 12"/>
            <p:cNvSpPr txBox="1"/>
            <p:nvPr/>
          </p:nvSpPr>
          <p:spPr>
            <a:xfrm>
              <a:off x="678942" y="5226050"/>
              <a:ext cx="23658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565C0"/>
                  </a:solidFill>
                  <a:latin typeface="+mn-lt"/>
                  <a:ea typeface="+mn-ea"/>
                  <a:cs typeface="+mn-cs"/>
                </a:rPr>
                <a:t>mgf</a:t>
              </a:r>
              <a:r>
                <a:rPr lang="zh-CN" sz="13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 xml:space="preserve">　滚动阻力，与车速无关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" y="5568950"/>
              <a:ext cx="3186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rgbClr val="1565C0"/>
                  </a:solidFill>
                  <a:latin typeface="+mn-lt"/>
                  <a:ea typeface="+mn-ea"/>
                  <a:cs typeface="+mn-cs"/>
                </a:rPr>
                <a:t>½ρCdA v²</a:t>
              </a:r>
              <a:r>
                <a:rPr lang="zh-CN" sz="13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 xml:space="preserve">　空气阻力，随车速平方增长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942" y="5911850"/>
              <a:ext cx="29196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rgbClr val="1565C0"/>
                  </a:solidFill>
                  <a:latin typeface="+mn-lt"/>
                  <a:ea typeface="+mn-ea"/>
                  <a:cs typeface="+mn-cs"/>
                </a:rPr>
                <a:t>mg·sinθ</a:t>
              </a:r>
              <a:r>
                <a:rPr lang="zh-CN" sz="13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 xml:space="preserve">　坡道阻力，只与坡度有关</a:t>
              </a:r>
            </a:p>
          </p:txBody>
        </p:sp>
      </p:grpSp>
      <p:grpSp>
        <p:nvGrpSpPr>
          <p:cNvPr id="27" name="model-diagram"/>
          <p:cNvGrpSpPr/>
          <p:nvPr/>
        </p:nvGrpSpPr>
        <p:grpSpPr>
          <a:xfrm>
            <a:off x="6523206" y="2381250"/>
            <a:ext cx="4936788" cy="2557907"/>
            <a:chOff x="6523206" y="2381250"/>
            <a:chExt cx="4936788" cy="2557907"/>
          </a:xfrm>
        </p:grpSpPr>
        <p:sp>
          <p:nvSpPr>
            <p:cNvPr id="16" name="Rectangle 16"/>
            <p:cNvSpPr/>
            <p:nvPr/>
          </p:nvSpPr>
          <p:spPr>
            <a:xfrm>
              <a:off x="7620000" y="2381250"/>
              <a:ext cx="2095500" cy="914400"/>
            </a:xfrm>
            <a:prstGeom prst="roundRect">
              <a:avLst>
                <a:gd name="adj" fmla="val 12500"/>
              </a:avLst>
            </a:prstGeom>
            <a:solidFill>
              <a:srgbClr val="F2F5F8"/>
            </a:solidFill>
            <a:ln w="19050">
              <a:solidFill>
                <a:srgbClr val="0B3D6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16290" y="271780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B3D6B"/>
                  </a:solidFill>
                  <a:latin typeface="+mn-lt"/>
                  <a:ea typeface="+mn-ea"/>
                  <a:cs typeface="+mn-cs"/>
                </a:rPr>
                <a:t>汽车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667500" y="283845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noFill/>
            <a:ln w="47625">
              <a:solidFill>
                <a:srgbClr val="2E7D32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7505700" y="27241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59880" y="2413000"/>
              <a:ext cx="9262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驱动力 Fd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829800" y="283845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noFill/>
            <a:ln w="47625">
              <a:solidFill>
                <a:srgbClr val="C62828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9601200" y="27241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228600" y="0"/>
                  </a:moveTo>
                  <a:lnTo>
                    <a:pt x="0" y="114300"/>
                  </a:lnTo>
                  <a:lnTo>
                    <a:pt x="228600" y="228600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47422" y="2413000"/>
              <a:ext cx="1128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行驶阻力 Fr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667500" y="4000500"/>
              <a:ext cx="4648200" cy="9525"/>
            </a:xfrm>
            <a:custGeom>
              <a:avLst/>
              <a:gdLst/>
              <a:ahLst/>
              <a:cxnLst/>
              <a:rect l="l" t="t" r="r" b="b"/>
              <a:pathLst>
                <a:path w="4648200" h="9525">
                  <a:moveTo>
                    <a:pt x="0" y="0"/>
                  </a:moveTo>
                  <a:lnTo>
                    <a:pt x="4648200" y="0"/>
                  </a:lnTo>
                </a:path>
              </a:pathLst>
            </a:custGeom>
            <a:noFill/>
            <a:ln w="9525">
              <a:solidFill>
                <a:srgbClr val="D7DFE7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23206" y="4197350"/>
              <a:ext cx="49367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5B6873"/>
                  </a:solidFill>
                  <a:latin typeface="+mn-lt"/>
                  <a:ea typeface="+mn-ea"/>
                  <a:cs typeface="+mn-cs"/>
                </a:rPr>
                <a:t>油门开度 α 决定驱动力，阻力只由车速和坡道决定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84111" y="4616450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控制就是：不断调整 α，让 v 停在设定值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685800" y="1428750"/>
            <a:ext cx="9144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669036" y="850900"/>
            <a:ext cx="10843260" cy="645414"/>
            <a:chOff x="669036" y="850900"/>
            <a:chExt cx="10843260" cy="645414"/>
          </a:xfrm>
        </p:grpSpPr>
        <p:sp>
          <p:nvSpPr>
            <p:cNvPr id="3" name="TextBox 3"/>
            <p:cNvSpPr txBox="1"/>
            <p:nvPr/>
          </p:nvSpPr>
          <p:spPr>
            <a:xfrm>
              <a:off x="669036" y="850900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模糊控制器设计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22406" y="11049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96A3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27" name="ctrl-flow"/>
          <p:cNvGrpSpPr/>
          <p:nvPr/>
        </p:nvGrpSpPr>
        <p:grpSpPr>
          <a:xfrm>
            <a:off x="685800" y="1905000"/>
            <a:ext cx="9639300" cy="1165733"/>
            <a:chOff x="685800" y="1905000"/>
            <a:chExt cx="9639300" cy="1165733"/>
          </a:xfrm>
        </p:grpSpPr>
        <p:sp>
          <p:nvSpPr>
            <p:cNvPr id="6" name="Rectangle 6"/>
            <p:cNvSpPr/>
            <p:nvPr/>
          </p:nvSpPr>
          <p:spPr>
            <a:xfrm>
              <a:off x="685800" y="1905000"/>
              <a:ext cx="2095500" cy="685800"/>
            </a:xfrm>
            <a:prstGeom prst="roundRect">
              <a:avLst>
                <a:gd name="adj" fmla="val 11111"/>
              </a:avLst>
            </a:prstGeom>
            <a:solidFill>
              <a:srgbClr val="F2F5F8"/>
            </a:solidFill>
            <a:ln w="19050">
              <a:solidFill>
                <a:srgbClr val="0B3D6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05233" y="2019300"/>
              <a:ext cx="10566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B3D6B"/>
                  </a:solidFill>
                  <a:latin typeface="+mn-lt"/>
                  <a:ea typeface="+mn-ea"/>
                  <a:cs typeface="+mn-cs"/>
                </a:rPr>
                <a:t>车速误差 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8390" y="230505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873"/>
                  </a:solidFill>
                  <a:latin typeface="+mn-lt"/>
                  <a:ea typeface="+mn-ea"/>
                  <a:cs typeface="+mn-cs"/>
                </a:rPr>
                <a:t>设定车速 − 实际车速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200400" y="1905000"/>
              <a:ext cx="2095500" cy="685800"/>
            </a:xfrm>
            <a:prstGeom prst="roundRect">
              <a:avLst>
                <a:gd name="adj" fmla="val 11111"/>
              </a:avLst>
            </a:prstGeom>
            <a:solidFill>
              <a:srgbClr val="F2F5F8"/>
            </a:solidFill>
            <a:ln w="19050">
              <a:solidFill>
                <a:srgbClr val="0B3D6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814750" y="20193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B3D6B"/>
                  </a:solidFill>
                  <a:latin typeface="+mn-lt"/>
                  <a:ea typeface="+mn-ea"/>
                  <a:cs typeface="+mn-cs"/>
                </a:rPr>
                <a:t>模糊推理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86657" y="2305050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873"/>
                  </a:solidFill>
                  <a:latin typeface="+mn-lt"/>
                  <a:ea typeface="+mn-ea"/>
                  <a:cs typeface="+mn-cs"/>
                </a:rPr>
                <a:t>25 条规则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0" y="1905000"/>
              <a:ext cx="2095500" cy="685800"/>
            </a:xfrm>
            <a:prstGeom prst="roundRect">
              <a:avLst>
                <a:gd name="adj" fmla="val 11111"/>
              </a:avLst>
            </a:prstGeom>
            <a:solidFill>
              <a:srgbClr val="F2F5F8"/>
            </a:solidFill>
            <a:ln w="19050">
              <a:solidFill>
                <a:srgbClr val="0B3D6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168591" y="2019300"/>
              <a:ext cx="118831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B3D6B"/>
                  </a:solidFill>
                  <a:latin typeface="+mn-lt"/>
                  <a:ea typeface="+mn-ea"/>
                  <a:cs typeface="+mn-cs"/>
                </a:rPr>
                <a:t>油门增量 Δα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72022" y="23050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873"/>
                  </a:solidFill>
                  <a:latin typeface="+mn-lt"/>
                  <a:ea typeface="+mn-ea"/>
                  <a:cs typeface="+mn-cs"/>
                </a:rPr>
                <a:t>该再加多少油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229600" y="1905000"/>
              <a:ext cx="2095500" cy="685800"/>
            </a:xfrm>
            <a:prstGeom prst="roundRect">
              <a:avLst>
                <a:gd name="adj" fmla="val 11111"/>
              </a:avLst>
            </a:prstGeom>
            <a:solidFill>
              <a:srgbClr val="F2F5F8"/>
            </a:solidFill>
            <a:ln w="19050">
              <a:solidFill>
                <a:srgbClr val="0B3D6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36333" y="2019300"/>
              <a:ext cx="148203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B3D6B"/>
                  </a:solidFill>
                  <a:latin typeface="+mn-lt"/>
                  <a:ea typeface="+mn-ea"/>
                  <a:cs typeface="+mn-cs"/>
                </a:rPr>
                <a:t>累加得到油门 α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67394" y="23050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873"/>
                  </a:solidFill>
                  <a:latin typeface="+mn-lt"/>
                  <a:ea typeface="+mn-ea"/>
                  <a:cs typeface="+mn-cs"/>
                </a:rPr>
                <a:t>送进发动机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819400" y="22479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1565C0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3105150" y="21717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0"/>
                  </a:moveTo>
                  <a:lnTo>
                    <a:pt x="1333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5334000" y="22479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1565C0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5619750" y="21717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0"/>
                  </a:moveTo>
                  <a:lnTo>
                    <a:pt x="1333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7848600" y="22479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1565C0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8134350" y="217170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0"/>
                  </a:moveTo>
                  <a:lnTo>
                    <a:pt x="133350" y="762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733550" y="2590800"/>
              <a:ext cx="7543800" cy="476250"/>
            </a:xfrm>
            <a:custGeom>
              <a:avLst/>
              <a:gdLst/>
              <a:ahLst/>
              <a:cxnLst/>
              <a:rect l="l" t="t" r="r" b="b"/>
              <a:pathLst>
                <a:path w="7543800" h="476250">
                  <a:moveTo>
                    <a:pt x="7543800" y="0"/>
                  </a:moveTo>
                  <a:lnTo>
                    <a:pt x="7543800" y="476250"/>
                  </a:lnTo>
                  <a:lnTo>
                    <a:pt x="0" y="476250"/>
                  </a:lnTo>
                  <a:lnTo>
                    <a:pt x="0" y="152400"/>
                  </a:lnTo>
                </a:path>
              </a:pathLst>
            </a:custGeom>
            <a:noFill/>
            <a:ln w="28575">
              <a:solidFill>
                <a:srgbClr val="1565C0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1619250" y="2609850"/>
              <a:ext cx="228600" cy="133350"/>
            </a:xfrm>
            <a:custGeom>
              <a:avLst/>
              <a:gdLst/>
              <a:ahLst/>
              <a:cxnLst/>
              <a:rect l="l" t="t" r="r" b="b"/>
              <a:pathLst>
                <a:path w="228600" h="133350">
                  <a:moveTo>
                    <a:pt x="0" y="133350"/>
                  </a:moveTo>
                  <a:lnTo>
                    <a:pt x="114300" y="0"/>
                  </a:lnTo>
                  <a:lnTo>
                    <a:pt x="228600" y="13335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48882" y="2806700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565C0"/>
                  </a:solidFill>
                  <a:latin typeface="+mn-lt"/>
                  <a:ea typeface="+mn-ea"/>
                  <a:cs typeface="+mn-cs"/>
                </a:rPr>
                <a:t>实际车速 v 反馈</a:t>
              </a:r>
            </a:p>
          </p:txBody>
        </p:sp>
      </p:grpSp>
      <p:grpSp>
        <p:nvGrpSpPr>
          <p:cNvPr id="29" name="ctrl-figure"/>
          <p:cNvGrpSpPr/>
          <p:nvPr/>
        </p:nvGrpSpPr>
        <p:grpSpPr>
          <a:xfrm>
            <a:off x="1485900" y="3483559"/>
            <a:ext cx="9220200" cy="3091282"/>
            <a:chOff x="1485900" y="3483559"/>
            <a:chExt cx="9220200" cy="3091282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85900" y="3483559"/>
              <a:ext cx="9220200" cy="3091282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685800" y="1428750"/>
            <a:ext cx="9144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669036" y="850900"/>
            <a:ext cx="10843260" cy="645414"/>
            <a:chOff x="669036" y="850900"/>
            <a:chExt cx="10843260" cy="645414"/>
          </a:xfrm>
        </p:grpSpPr>
        <p:sp>
          <p:nvSpPr>
            <p:cNvPr id="3" name="TextBox 3"/>
            <p:cNvSpPr txBox="1"/>
            <p:nvPr/>
          </p:nvSpPr>
          <p:spPr>
            <a:xfrm>
              <a:off x="669036" y="850900"/>
              <a:ext cx="37600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Simulink 模型实现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22406" y="11049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96A3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8" name="sim-lead"/>
          <p:cNvGrpSpPr/>
          <p:nvPr/>
        </p:nvGrpSpPr>
        <p:grpSpPr>
          <a:xfrm>
            <a:off x="677418" y="1644650"/>
            <a:ext cx="9123807" cy="646557"/>
            <a:chOff x="677418" y="1644650"/>
            <a:chExt cx="9123807" cy="646557"/>
          </a:xfrm>
        </p:grpSpPr>
        <p:sp>
          <p:nvSpPr>
            <p:cNvPr id="6" name="TextBox 6"/>
            <p:cNvSpPr txBox="1"/>
            <p:nvPr/>
          </p:nvSpPr>
          <p:spPr>
            <a:xfrm>
              <a:off x="677418" y="1644650"/>
              <a:ext cx="91238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顶层只有四样东西：两个常数、两个子系统、一个示波器。没有开关，没有自动触发的工况。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7418" y="1968500"/>
              <a:ext cx="72690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873"/>
                  </a:solidFill>
                  <a:latin typeface="+mn-lt"/>
                  <a:ea typeface="+mn-ea"/>
                  <a:cs typeface="+mn-cs"/>
                </a:rPr>
                <a:t>跑之前手动把「坡度」常数改成 0 或 0.05，就得到平路和上坡两组结果。</a:t>
              </a:r>
            </a:p>
          </p:txBody>
        </p:sp>
      </p:grpSp>
      <p:grpSp>
        <p:nvGrpSpPr>
          <p:cNvPr id="10" name="sim-figure"/>
          <p:cNvGrpSpPr/>
          <p:nvPr/>
        </p:nvGrpSpPr>
        <p:grpSpPr>
          <a:xfrm>
            <a:off x="685800" y="2400300"/>
            <a:ext cx="10820400" cy="3362325"/>
            <a:chOff x="685800" y="2400300"/>
            <a:chExt cx="10820400" cy="3362325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2400300"/>
              <a:ext cx="10820400" cy="3362325"/>
            </a:xfrm>
            <a:prstGeom prst="rect">
              <a:avLst/>
            </a:prstGeom>
          </p:spPr>
        </p:pic>
      </p:grpSp>
      <p:grpSp>
        <p:nvGrpSpPr>
          <p:cNvPr id="13" name="sim-note"/>
          <p:cNvGrpSpPr/>
          <p:nvPr/>
        </p:nvGrpSpPr>
        <p:grpSpPr>
          <a:xfrm>
            <a:off x="677418" y="5969000"/>
            <a:ext cx="10527948" cy="606933"/>
            <a:chOff x="677418" y="5969000"/>
            <a:chExt cx="10527948" cy="606933"/>
          </a:xfrm>
        </p:grpSpPr>
        <p:sp>
          <p:nvSpPr>
            <p:cNvPr id="11" name="TextBox 11"/>
            <p:cNvSpPr txBox="1"/>
            <p:nvPr/>
          </p:nvSpPr>
          <p:spPr>
            <a:xfrm>
              <a:off x="677418" y="5969000"/>
              <a:ext cx="105279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Controller 把车速误差变成油门开度，Vehicle 把油门变成车速，车速从 Vehicle 出来又送回 Controller。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942" y="6311900"/>
              <a:ext cx="65744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6A3"/>
                  </a:solidFill>
                  <a:latin typeface="+mn-lt"/>
                  <a:ea typeface="+mn-ea"/>
                  <a:cs typeface="+mn-cs"/>
                </a:rPr>
                <a:t>这条反馈线就是闭环——控制器能看到自己造成的后果，这是它能自动补油的原因。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685800" y="1428750"/>
            <a:ext cx="9144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grpSp>
        <p:nvGrpSpPr>
          <p:cNvPr id="5" name="page-header"/>
          <p:cNvGrpSpPr/>
          <p:nvPr/>
        </p:nvGrpSpPr>
        <p:grpSpPr>
          <a:xfrm>
            <a:off x="669036" y="850900"/>
            <a:ext cx="10843260" cy="645414"/>
            <a:chOff x="669036" y="850900"/>
            <a:chExt cx="10843260" cy="645414"/>
          </a:xfrm>
        </p:grpSpPr>
        <p:sp>
          <p:nvSpPr>
            <p:cNvPr id="3" name="TextBox 3"/>
            <p:cNvSpPr txBox="1"/>
            <p:nvPr/>
          </p:nvSpPr>
          <p:spPr>
            <a:xfrm>
              <a:off x="669036" y="850900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仿真结果：两次运行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322406" y="11049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96A3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7" name="res-lead"/>
          <p:cNvGrpSpPr/>
          <p:nvPr/>
        </p:nvGrpSpPr>
        <p:grpSpPr>
          <a:xfrm>
            <a:off x="677418" y="1663700"/>
            <a:ext cx="7335717" cy="322707"/>
            <a:chOff x="677418" y="1663700"/>
            <a:chExt cx="7335717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77418" y="1663700"/>
              <a:ext cx="73357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873"/>
                  </a:solidFill>
                  <a:latin typeface="+mn-lt"/>
                  <a:ea typeface="+mn-ea"/>
                  <a:cs typeface="+mn-cs"/>
                </a:rPr>
                <a:t>第一次把坡度设成 0（平路），第二次设成 0.05（5% 上坡），各跑一次。</a:t>
              </a:r>
            </a:p>
          </p:txBody>
        </p:sp>
      </p:grpSp>
      <p:grpSp>
        <p:nvGrpSpPr>
          <p:cNvPr id="9" name="res-figure"/>
          <p:cNvGrpSpPr/>
          <p:nvPr/>
        </p:nvGrpSpPr>
        <p:grpSpPr>
          <a:xfrm>
            <a:off x="1352550" y="2171700"/>
            <a:ext cx="9486900" cy="3781425"/>
            <a:chOff x="1352550" y="2171700"/>
            <a:chExt cx="9486900" cy="3781425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2550" y="2171700"/>
              <a:ext cx="9486900" cy="3781425"/>
            </a:xfrm>
            <a:prstGeom prst="rect">
              <a:avLst/>
            </a:prstGeom>
          </p:spPr>
        </p:pic>
      </p:grpSp>
      <p:grpSp>
        <p:nvGrpSpPr>
          <p:cNvPr id="11" name="res-takeaway"/>
          <p:cNvGrpSpPr/>
          <p:nvPr/>
        </p:nvGrpSpPr>
        <p:grpSpPr>
          <a:xfrm>
            <a:off x="677418" y="6178550"/>
            <a:ext cx="4628769" cy="589407"/>
            <a:chOff x="677418" y="6178550"/>
            <a:chExt cx="4628769" cy="589407"/>
          </a:xfrm>
        </p:grpSpPr>
        <p:sp>
          <p:nvSpPr>
            <p:cNvPr id="10" name="TextBox 10"/>
            <p:cNvSpPr txBox="1"/>
            <p:nvPr/>
          </p:nvSpPr>
          <p:spPr>
            <a:xfrm>
              <a:off x="677418" y="6178550"/>
              <a:ext cx="4628769" cy="589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650" b="1" dirty="0">
                  <a:solidFill>
                    <a:srgbClr val="0B3D6B"/>
                  </a:solidFill>
                  <a:latin typeface="+mn-lt"/>
                  <a:ea typeface="+mn-ea"/>
                  <a:cs typeface="+mn-cs"/>
                </a:rPr>
                <a:t>平路油门 14.45%，上坡自动加到 38.98%</a:t>
              </a:r>
            </a:p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5B6873"/>
                  </a:solidFill>
                  <a:latin typeface="+mn-lt"/>
                  <a:ea typeface="+mn-ea"/>
                  <a:cs typeface="+mn-cs"/>
                </a:rPr>
                <a:t>多出来的正是坡道要的那 736 N；车速两次都稳在 80 km/h。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rule"/>
          <p:cNvSpPr/>
          <p:nvPr/>
        </p:nvSpPr>
        <p:spPr>
          <a:xfrm>
            <a:off x="685800" y="1428750"/>
            <a:ext cx="914400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981700" y="1866900"/>
            <a:ext cx="9525" cy="3848100"/>
          </a:xfrm>
          <a:custGeom>
            <a:avLst/>
            <a:gdLst/>
            <a:ahLst/>
            <a:cxnLst/>
            <a:rect l="l" t="t" r="r" b="b"/>
            <a:pathLst>
              <a:path w="9525" h="3848100">
                <a:moveTo>
                  <a:pt x="0" y="0"/>
                </a:moveTo>
                <a:lnTo>
                  <a:pt x="0" y="3848100"/>
                </a:lnTo>
              </a:path>
            </a:pathLst>
          </a:custGeom>
          <a:noFill/>
          <a:ln w="9525">
            <a:solidFill>
              <a:srgbClr val="E4E9EE"/>
            </a:solidFill>
          </a:ln>
        </p:spPr>
      </p:sp>
      <p:grpSp>
        <p:nvGrpSpPr>
          <p:cNvPr id="6" name="page-header"/>
          <p:cNvGrpSpPr/>
          <p:nvPr/>
        </p:nvGrpSpPr>
        <p:grpSpPr>
          <a:xfrm>
            <a:off x="669036" y="850900"/>
            <a:ext cx="10843260" cy="645414"/>
            <a:chOff x="669036" y="850900"/>
            <a:chExt cx="10843260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69036" y="850900"/>
              <a:ext cx="9220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22406" y="110490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96A3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13" name="conc-left"/>
          <p:cNvGrpSpPr/>
          <p:nvPr/>
        </p:nvGrpSpPr>
        <p:grpSpPr>
          <a:xfrm>
            <a:off x="675132" y="1803400"/>
            <a:ext cx="4058517" cy="2867533"/>
            <a:chOff x="675132" y="1803400"/>
            <a:chExt cx="4058517" cy="2867533"/>
          </a:xfrm>
        </p:grpSpPr>
        <p:sp>
          <p:nvSpPr>
            <p:cNvPr id="7" name="TextBox 7"/>
            <p:cNvSpPr txBox="1"/>
            <p:nvPr/>
          </p:nvSpPr>
          <p:spPr>
            <a:xfrm>
              <a:off x="675132" y="18034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B3D6B"/>
                  </a:solidFill>
                  <a:latin typeface="+mn-lt"/>
                  <a:ea typeface="+mn-ea"/>
                  <a:cs typeface="+mn-cs"/>
                </a:rPr>
                <a:t>做出来的东西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2247900"/>
              <a:ext cx="533400" cy="28575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942" y="259715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① 模型简单：一条力平衡方程 + 三个阻力项。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942" y="3009900"/>
              <a:ext cx="3365563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② 控制器只用 25 条规则，不需要精确的车重</a:t>
              </a:r>
              <a:br>
                <a:rPr lang="zh-CN" sz="13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 xml:space="preserve">　　和阻力系数。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942" y="3695700"/>
              <a:ext cx="326269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③ 两次运行车速都稳在 80 km/h，上坡最大</a:t>
              </a:r>
              <a:br>
                <a:rPr lang="zh-CN" sz="13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 xml:space="preserve">　　只掉 0.9 km/h。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942" y="4406900"/>
              <a:ext cx="4054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④ Simulink 模型与手写程序偏差小于 0.004 m/s。</a:t>
              </a:r>
            </a:p>
          </p:txBody>
        </p:sp>
      </p:grpSp>
      <p:grpSp>
        <p:nvGrpSpPr>
          <p:cNvPr id="20" name="conc-right"/>
          <p:cNvGrpSpPr/>
          <p:nvPr/>
        </p:nvGrpSpPr>
        <p:grpSpPr>
          <a:xfrm>
            <a:off x="6466332" y="1803400"/>
            <a:ext cx="3261531" cy="3204083"/>
            <a:chOff x="6466332" y="1803400"/>
            <a:chExt cx="3261531" cy="3204083"/>
          </a:xfrm>
        </p:grpSpPr>
        <p:sp>
          <p:nvSpPr>
            <p:cNvPr id="14" name="TextBox 14"/>
            <p:cNvSpPr txBox="1"/>
            <p:nvPr/>
          </p:nvSpPr>
          <p:spPr>
            <a:xfrm>
              <a:off x="6466332" y="18034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B3D6B"/>
                  </a:solidFill>
                  <a:latin typeface="+mn-lt"/>
                  <a:ea typeface="+mn-ea"/>
                  <a:cs typeface="+mn-cs"/>
                </a:rPr>
                <a:t>还可以往下做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477000" y="2247900"/>
              <a:ext cx="533400" cy="28575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142" y="2597150"/>
              <a:ext cx="3257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① 还没考虑发动机转速限制和自动换挡。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70142" y="3009900"/>
              <a:ext cx="307409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② 规则表是手工整定的，可以用实测数据</a:t>
              </a:r>
              <a:br>
                <a:rPr lang="zh-CN" sz="13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 xml:space="preserve">　　再优化。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70142" y="3695700"/>
              <a:ext cx="324554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>③ 再加上前车距离，就能扩展成自适应巡航</a:t>
              </a:r>
              <a:br>
                <a:rPr lang="zh-CN" sz="13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101820"/>
                  </a:solidFill>
                  <a:latin typeface="+mn-lt"/>
                  <a:ea typeface="+mn-ea"/>
                  <a:cs typeface="+mn-cs"/>
                </a:rPr>
                <a:t xml:space="preserve">　　（ACC）。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70142" y="4495800"/>
              <a:ext cx="24140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8A96A3"/>
                  </a:solidFill>
                  <a:latin typeface="+mn-lt"/>
                  <a:ea typeface="+mn-ea"/>
                  <a:cs typeface="+mn-cs"/>
                </a:rPr>
                <a:t>本次只做了车速控制，没有涉及</a:t>
              </a:r>
              <a:br>
                <a:rPr lang="zh-CN" sz="1350" dirty="0">
                  <a:solidFill>
                    <a:srgbClr val="8A96A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8A96A3"/>
                  </a:solidFill>
                  <a:latin typeface="+mn-lt"/>
                  <a:ea typeface="+mn-ea"/>
                  <a:cs typeface="+mn-cs"/>
                </a:rPr>
                <a:t>制动和能量回收。</a:t>
              </a:r>
            </a:p>
          </p:txBody>
        </p:sp>
      </p:grpSp>
      <p:grpSp>
        <p:nvGrpSpPr>
          <p:cNvPr id="24" name="conc-band"/>
          <p:cNvGrpSpPr/>
          <p:nvPr/>
        </p:nvGrpSpPr>
        <p:grpSpPr>
          <a:xfrm>
            <a:off x="685800" y="6019800"/>
            <a:ext cx="10820400" cy="647700"/>
            <a:chOff x="685800" y="6019800"/>
            <a:chExt cx="10820400" cy="647700"/>
          </a:xfrm>
        </p:grpSpPr>
        <p:sp>
          <p:nvSpPr>
            <p:cNvPr id="21" name="Rectangle 21"/>
            <p:cNvSpPr/>
            <p:nvPr/>
          </p:nvSpPr>
          <p:spPr>
            <a:xfrm>
              <a:off x="685800" y="6019800"/>
              <a:ext cx="10820400" cy="647700"/>
            </a:xfrm>
            <a:prstGeom prst="rect">
              <a:avLst/>
            </a:prstGeom>
            <a:solidFill>
              <a:srgbClr val="F2F5F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85800" y="6019800"/>
              <a:ext cx="47625" cy="6477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19556" y="6213475"/>
              <a:ext cx="86895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B3D6B"/>
                  </a:solidFill>
                  <a:latin typeface="+mn-lt"/>
                  <a:ea typeface="+mn-ea"/>
                  <a:cs typeface="+mn-cs"/>
                </a:rPr>
                <a:t>模糊控制的优点：不用事先知道车重和阻力系数，靠 25 条规则就能把车速稳住。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ruise_fuzzy">
  <a:themeElements>
    <a:clrScheme name="cruise_fuzzy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ruise_fuzz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ruise_fuzz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2026-10-15T08:50:39Z</dcterms:created>
  <dcterms:modified xsi:type="dcterms:W3CDTF">2026-10-15T08:50:39Z</dcterms:modified>
  <cp:category/>
  <cp:contentStatus/>
</cp:coreProperties>
</file>